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7" r:id="rId3"/>
    <p:sldId id="256" r:id="rId4"/>
    <p:sldId id="257" r:id="rId5"/>
    <p:sldId id="258" r:id="rId6"/>
    <p:sldId id="259" r:id="rId7"/>
    <p:sldId id="260" r:id="rId8"/>
    <p:sldId id="262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5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3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69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62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6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7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02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020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555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81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14761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313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93501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449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69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4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74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5A12A1-D7D9-C62A-062D-B28BF8D70A9A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A11668-989C-AC8D-3FA7-A1622174F563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18662-6F8A-8FDF-74C9-685A32CE55DC}"/>
              </a:ext>
            </a:extLst>
          </p:cNvPr>
          <p:cNvSpPr txBox="1"/>
          <p:nvPr/>
        </p:nvSpPr>
        <p:spPr>
          <a:xfrm>
            <a:off x="284672" y="2838091"/>
            <a:ext cx="74359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Gate Pass</a:t>
            </a:r>
          </a:p>
          <a:p>
            <a:r>
              <a:rPr lang="en-US" sz="5400" dirty="0">
                <a:solidFill>
                  <a:srgbClr val="FF0000"/>
                </a:solidFill>
              </a:rPr>
              <a:t>Monitoring System</a:t>
            </a:r>
            <a:endParaRPr lang="en-IN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1145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2800" dirty="0"/>
              <a:t>1. 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The ‘</a:t>
            </a:r>
            <a:r>
              <a:rPr lang="en-US" dirty="0"/>
              <a:t>Gate P</a:t>
            </a:r>
            <a:r>
              <a:rPr dirty="0"/>
              <a:t>ass Monitor</a:t>
            </a:r>
            <a:r>
              <a:rPr lang="en-US" dirty="0"/>
              <a:t>ing System</a:t>
            </a:r>
            <a:r>
              <a:rPr dirty="0"/>
              <a:t>' is a comprehensive web-based application designed to modernize the management of student and parent</a:t>
            </a:r>
            <a:r>
              <a:rPr lang="en-US" dirty="0"/>
              <a:t> and Student</a:t>
            </a:r>
            <a:r>
              <a:rPr dirty="0"/>
              <a:t> movements in and out of the college campus.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• Replaces traditional manual registers with a digital system.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• Streamlines approval workflows between Coordinators, HODs, and Gate Security.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• Ensures secure, real-time tracking of student exits and entries.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• Enhances administrative efficiency and data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845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2800" dirty="0"/>
              <a:t>2. Hardware &amp; Software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150030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 b="1">
                <a:solidFill>
                  <a:srgbClr val="2980B9"/>
                </a:solidFill>
                <a:latin typeface="Segoe UI"/>
              </a:defRPr>
            </a:pPr>
            <a:r>
              <a:rPr dirty="0"/>
              <a:t>Hardware Specs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RAM: 2GB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ROM: 256GB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Processor: Windows 7 32-bit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00600" y="1828800"/>
            <a:ext cx="2334165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 b="1">
                <a:solidFill>
                  <a:srgbClr val="2980B9"/>
                </a:solidFill>
                <a:latin typeface="Segoe UI"/>
              </a:defRPr>
            </a:pPr>
            <a:r>
              <a:rPr dirty="0"/>
              <a:t>Software Specs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OS: Windows 7</a:t>
            </a:r>
            <a:endParaRPr lang="en-US" dirty="0"/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lang="en-IN"/>
              <a:t>HTML , CSS</a:t>
            </a:r>
            <a:endParaRPr dirty="0"/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PHP Version: 7.3.2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MySQL Version: 5.10</a:t>
            </a:r>
          </a:p>
          <a:p>
            <a:pPr>
              <a:spcAft>
                <a:spcPts val="1200"/>
              </a:spcAft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XAMPP Version: 3.2.2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dirty="0"/>
              <a:t>3.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848" y="1820174"/>
            <a:ext cx="8527591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dirty="0"/>
          </a:p>
          <a:p>
            <a:pPr>
              <a:spcAft>
                <a:spcPts val="1200"/>
              </a:spcAft>
              <a:defRPr sz="2200" b="1">
                <a:solidFill>
                  <a:srgbClr val="C0392B"/>
                </a:solidFill>
                <a:latin typeface="Segoe UI"/>
              </a:defRPr>
            </a:pPr>
            <a:r>
              <a:rPr sz="1600" dirty="0">
                <a:solidFill>
                  <a:srgbClr val="0070C0"/>
                </a:solidFill>
              </a:rPr>
              <a:t>Limitations of the Manual System: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Slow Process: Obtaining physical signatures from multiple authorities is time-consuming.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Data Loss Risk: Paper records are </a:t>
            </a:r>
            <a:r>
              <a:rPr lang="en-US" sz="1600" dirty="0"/>
              <a:t>may be</a:t>
            </a:r>
            <a:r>
              <a:rPr sz="1600" dirty="0"/>
              <a:t>  damage</a:t>
            </a:r>
            <a:r>
              <a:rPr lang="en-US" sz="1600" dirty="0"/>
              <a:t>d</a:t>
            </a:r>
            <a:r>
              <a:rPr sz="1600" dirty="0"/>
              <a:t>, misplacement, and wear over time.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Lack of Visibility: No real-time tracking of student location (inside/outside).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Communication Gaps: Poor coordination between departments and the main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33554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2800" dirty="0"/>
              <a:t>4. System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410549" cy="2431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 b="1">
                <a:solidFill>
                  <a:srgbClr val="7F8C8D"/>
                </a:solidFill>
                <a:latin typeface="Segoe UI"/>
              </a:defRPr>
            </a:pPr>
            <a:r>
              <a:rPr dirty="0">
                <a:solidFill>
                  <a:srgbClr val="0070C0"/>
                </a:solidFill>
              </a:rPr>
              <a:t>Existing System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lang="en-US" dirty="0"/>
              <a:t> </a:t>
            </a:r>
            <a:r>
              <a:rPr dirty="0"/>
              <a:t>Paper-based applications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 Physical movement required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 High manual effort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 Prone to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0174"/>
            <a:ext cx="3967625" cy="2431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  <a:defRPr sz="2200" b="1">
                <a:solidFill>
                  <a:srgbClr val="27AE60"/>
                </a:solidFill>
                <a:latin typeface="Segoe UI"/>
              </a:defRPr>
            </a:pPr>
            <a:r>
              <a:rPr dirty="0">
                <a:solidFill>
                  <a:srgbClr val="0070C0"/>
                </a:solidFill>
              </a:rPr>
              <a:t>Proposed System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Web-based application dashboard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Remote/Online approval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Automated workflows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 b="0">
                <a:solidFill>
                  <a:srgbClr val="3C3C3C"/>
                </a:solidFill>
                <a:latin typeface="Segoe UI"/>
              </a:defRPr>
            </a:pPr>
            <a:r>
              <a:rPr dirty="0"/>
              <a:t>Secure digital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0777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2800" dirty="0"/>
              <a:t>5.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0174"/>
            <a:ext cx="8625695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600" dirty="0"/>
          </a:p>
          <a:p>
            <a:pPr>
              <a:spcAft>
                <a:spcPts val="1200"/>
              </a:spcAft>
              <a:defRPr sz="2200" b="1">
                <a:solidFill>
                  <a:srgbClr val="2980B9"/>
                </a:solidFill>
                <a:latin typeface="Segoe UI"/>
              </a:defRPr>
            </a:pPr>
            <a:r>
              <a:rPr sz="1600" dirty="0"/>
              <a:t>Key Features &amp; Workflow: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Role-Based Access: Separate logins for Students, Parents, Coordinators, HODs, and Gate.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Online Requests: Students/Parents submit leave or out-pass requests digitally.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Multi-Level Approval: Requests are automatically routed to the correct authority.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Real-Time Status: Students can check approval status instantly.</a:t>
            </a:r>
          </a:p>
          <a:p>
            <a:pPr>
              <a:spcAft>
                <a:spcPts val="1200"/>
              </a:spcAft>
              <a:defRPr sz="2000" b="0">
                <a:solidFill>
                  <a:srgbClr val="3C3C3C"/>
                </a:solidFill>
                <a:latin typeface="Segoe UI"/>
              </a:defRPr>
            </a:pPr>
            <a:r>
              <a:rPr sz="1600" dirty="0"/>
              <a:t>• Gate Verification: Security guards verify approved passes via the system before allowing exit.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2EFE-3ACA-46D0-C46B-0D5EBD14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3FFEC6-5328-E551-1205-1FD26A411962}"/>
              </a:ext>
            </a:extLst>
          </p:cNvPr>
          <p:cNvSpPr/>
          <p:nvPr/>
        </p:nvSpPr>
        <p:spPr>
          <a:xfrm>
            <a:off x="0" y="0"/>
            <a:ext cx="9080655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3B426-D283-16CD-C264-8D6205F150FA}"/>
              </a:ext>
            </a:extLst>
          </p:cNvPr>
          <p:cNvSpPr/>
          <p:nvPr/>
        </p:nvSpPr>
        <p:spPr>
          <a:xfrm>
            <a:off x="0" y="6492240"/>
            <a:ext cx="9080655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406F1-7420-D991-37C7-84F420F4505E}"/>
              </a:ext>
            </a:extLst>
          </p:cNvPr>
          <p:cNvSpPr txBox="1"/>
          <p:nvPr/>
        </p:nvSpPr>
        <p:spPr>
          <a:xfrm>
            <a:off x="457200" y="744772"/>
            <a:ext cx="2169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1400"/>
              <a:t>6. Dataflow Diagram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9DB13B-5867-0D86-4071-56641E3FBAA0}"/>
              </a:ext>
            </a:extLst>
          </p:cNvPr>
          <p:cNvSpPr txBox="1"/>
          <p:nvPr/>
        </p:nvSpPr>
        <p:spPr>
          <a:xfrm>
            <a:off x="304800" y="1811572"/>
            <a:ext cx="995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lang="en-US" sz="1400" dirty="0"/>
              <a:t>Level 0 :</a:t>
            </a:r>
            <a:endParaRPr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9602BB-18EE-6036-DDBE-65D0AA241CD2}"/>
              </a:ext>
            </a:extLst>
          </p:cNvPr>
          <p:cNvSpPr/>
          <p:nvPr/>
        </p:nvSpPr>
        <p:spPr>
          <a:xfrm>
            <a:off x="3535796" y="2863977"/>
            <a:ext cx="1500193" cy="13365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0A954D-FA0A-E0D0-7DAF-4A86AA533DEC}"/>
              </a:ext>
            </a:extLst>
          </p:cNvPr>
          <p:cNvCxnSpPr>
            <a:cxnSpLocks/>
          </p:cNvCxnSpPr>
          <p:nvPr/>
        </p:nvCxnSpPr>
        <p:spPr>
          <a:xfrm>
            <a:off x="6755987" y="3093603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68BFB4-F35C-FB1B-EF15-26E41D1659FA}"/>
              </a:ext>
            </a:extLst>
          </p:cNvPr>
          <p:cNvCxnSpPr>
            <a:cxnSpLocks/>
          </p:cNvCxnSpPr>
          <p:nvPr/>
        </p:nvCxnSpPr>
        <p:spPr>
          <a:xfrm>
            <a:off x="6755987" y="3096651"/>
            <a:ext cx="12349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1A9F5C-1BB8-64CE-B098-4543A75E3932}"/>
              </a:ext>
            </a:extLst>
          </p:cNvPr>
          <p:cNvCxnSpPr>
            <a:cxnSpLocks/>
          </p:cNvCxnSpPr>
          <p:nvPr/>
        </p:nvCxnSpPr>
        <p:spPr>
          <a:xfrm>
            <a:off x="6755987" y="3962283"/>
            <a:ext cx="1234969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808497-EE73-4A6D-33BF-F084A49257D5}"/>
              </a:ext>
            </a:extLst>
          </p:cNvPr>
          <p:cNvCxnSpPr>
            <a:cxnSpLocks/>
          </p:cNvCxnSpPr>
          <p:nvPr/>
        </p:nvCxnSpPr>
        <p:spPr>
          <a:xfrm>
            <a:off x="6938867" y="3096651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F349D01C-834F-14E1-1253-7B78960E39D9}"/>
              </a:ext>
            </a:extLst>
          </p:cNvPr>
          <p:cNvSpPr/>
          <p:nvPr/>
        </p:nvSpPr>
        <p:spPr>
          <a:xfrm>
            <a:off x="353569" y="3156118"/>
            <a:ext cx="1731264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 users</a:t>
            </a:r>
            <a:endParaRPr lang="en-IN" sz="14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42A5AB-9F4D-3271-0085-E06CE3F15261}"/>
              </a:ext>
            </a:extLst>
          </p:cNvPr>
          <p:cNvCxnSpPr>
            <a:cxnSpLocks/>
          </p:cNvCxnSpPr>
          <p:nvPr/>
        </p:nvCxnSpPr>
        <p:spPr>
          <a:xfrm>
            <a:off x="2084832" y="3527973"/>
            <a:ext cx="1434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032674-F69F-562E-7603-7671543D2814}"/>
              </a:ext>
            </a:extLst>
          </p:cNvPr>
          <p:cNvSpPr txBox="1"/>
          <p:nvPr/>
        </p:nvSpPr>
        <p:spPr>
          <a:xfrm>
            <a:off x="6999712" y="3338992"/>
            <a:ext cx="932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users</a:t>
            </a:r>
            <a:endParaRPr lang="en-IN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BC7D2D-0548-9A2F-A284-B39E30A2D7DB}"/>
              </a:ext>
            </a:extLst>
          </p:cNvPr>
          <p:cNvCxnSpPr>
            <a:cxnSpLocks/>
          </p:cNvCxnSpPr>
          <p:nvPr/>
        </p:nvCxnSpPr>
        <p:spPr>
          <a:xfrm>
            <a:off x="5067395" y="3541659"/>
            <a:ext cx="1670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11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07E1-00A2-682A-1532-2C49774CA6B2}"/>
              </a:ext>
            </a:extLst>
          </p:cNvPr>
          <p:cNvSpPr txBox="1">
            <a:spLocks/>
          </p:cNvSpPr>
          <p:nvPr/>
        </p:nvSpPr>
        <p:spPr>
          <a:xfrm rot="10800000" flipV="1">
            <a:off x="658368" y="386007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1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8C078A-CE82-D832-0BAA-B2815FEB708B}"/>
              </a:ext>
            </a:extLst>
          </p:cNvPr>
          <p:cNvSpPr/>
          <p:nvPr/>
        </p:nvSpPr>
        <p:spPr>
          <a:xfrm>
            <a:off x="3535796" y="1255776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 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4F72C5-1F99-0380-C4F9-867F42F03A2E}"/>
              </a:ext>
            </a:extLst>
          </p:cNvPr>
          <p:cNvCxnSpPr/>
          <p:nvPr/>
        </p:nvCxnSpPr>
        <p:spPr>
          <a:xfrm>
            <a:off x="5324808" y="3898681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D1FA94-6588-34CB-CB9B-B843582B01B6}"/>
              </a:ext>
            </a:extLst>
          </p:cNvPr>
          <p:cNvCxnSpPr/>
          <p:nvPr/>
        </p:nvCxnSpPr>
        <p:spPr>
          <a:xfrm>
            <a:off x="6885384" y="1359697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CFEBF9-3199-B818-A586-1F96D1FF148D}"/>
              </a:ext>
            </a:extLst>
          </p:cNvPr>
          <p:cNvCxnSpPr/>
          <p:nvPr/>
        </p:nvCxnSpPr>
        <p:spPr>
          <a:xfrm>
            <a:off x="6885384" y="1362745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3C92B1-82C3-2C48-C5A4-DEF113477675}"/>
              </a:ext>
            </a:extLst>
          </p:cNvPr>
          <p:cNvCxnSpPr>
            <a:cxnSpLocks/>
          </p:cNvCxnSpPr>
          <p:nvPr/>
        </p:nvCxnSpPr>
        <p:spPr>
          <a:xfrm>
            <a:off x="6885384" y="2228377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13A09A-B01C-1991-1DA5-3E6F567C9E8F}"/>
              </a:ext>
            </a:extLst>
          </p:cNvPr>
          <p:cNvCxnSpPr>
            <a:cxnSpLocks/>
          </p:cNvCxnSpPr>
          <p:nvPr/>
        </p:nvCxnSpPr>
        <p:spPr>
          <a:xfrm>
            <a:off x="7068264" y="1362745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436B2F4C-ECC8-6F07-36B1-6507C4BF9EBD}"/>
              </a:ext>
            </a:extLst>
          </p:cNvPr>
          <p:cNvSpPr/>
          <p:nvPr/>
        </p:nvSpPr>
        <p:spPr>
          <a:xfrm>
            <a:off x="353568" y="1706881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Student</a:t>
            </a:r>
            <a:endParaRPr lang="en-IN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06DB75-4989-0E61-06FF-E72EF4A902CA}"/>
              </a:ext>
            </a:extLst>
          </p:cNvPr>
          <p:cNvCxnSpPr>
            <a:cxnSpLocks/>
          </p:cNvCxnSpPr>
          <p:nvPr/>
        </p:nvCxnSpPr>
        <p:spPr>
          <a:xfrm>
            <a:off x="2084832" y="2078736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4D22A1-D396-5387-7CBD-596194661669}"/>
              </a:ext>
            </a:extLst>
          </p:cNvPr>
          <p:cNvSpPr txBox="1"/>
          <p:nvPr/>
        </p:nvSpPr>
        <p:spPr>
          <a:xfrm>
            <a:off x="7129109" y="1605086"/>
            <a:ext cx="938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users</a:t>
            </a:r>
            <a:endParaRPr lang="en-IN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C3F762-06A2-08D7-0799-513D7D101E18}"/>
              </a:ext>
            </a:extLst>
          </p:cNvPr>
          <p:cNvCxnSpPr>
            <a:cxnSpLocks/>
          </p:cNvCxnSpPr>
          <p:nvPr/>
        </p:nvCxnSpPr>
        <p:spPr>
          <a:xfrm>
            <a:off x="4416260" y="2621855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F647AA4-30A7-8FC1-0D9B-F3FE18951DF1}"/>
              </a:ext>
            </a:extLst>
          </p:cNvPr>
          <p:cNvSpPr/>
          <p:nvPr/>
        </p:nvSpPr>
        <p:spPr>
          <a:xfrm>
            <a:off x="3560996" y="3375807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548E45-E5B6-1A75-FC6F-B8A0B06440ED}"/>
              </a:ext>
            </a:extLst>
          </p:cNvPr>
          <p:cNvCxnSpPr/>
          <p:nvPr/>
        </p:nvCxnSpPr>
        <p:spPr>
          <a:xfrm>
            <a:off x="7001208" y="3450625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ADC9F6-9B34-4E90-1CEC-54CEBC8742B6}"/>
              </a:ext>
            </a:extLst>
          </p:cNvPr>
          <p:cNvCxnSpPr/>
          <p:nvPr/>
        </p:nvCxnSpPr>
        <p:spPr>
          <a:xfrm>
            <a:off x="7001208" y="3441481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F1BF3D-4F46-93E0-11EB-C334D8C2E6C9}"/>
              </a:ext>
            </a:extLst>
          </p:cNvPr>
          <p:cNvCxnSpPr>
            <a:cxnSpLocks/>
          </p:cNvCxnSpPr>
          <p:nvPr/>
        </p:nvCxnSpPr>
        <p:spPr>
          <a:xfrm>
            <a:off x="7001208" y="4319305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58DDA8-FE0B-91D0-1BA3-D3AD3CF58A41}"/>
              </a:ext>
            </a:extLst>
          </p:cNvPr>
          <p:cNvCxnSpPr>
            <a:cxnSpLocks/>
          </p:cNvCxnSpPr>
          <p:nvPr/>
        </p:nvCxnSpPr>
        <p:spPr>
          <a:xfrm>
            <a:off x="7184088" y="3453673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566CB9B-4599-34A0-6098-BFC79ADB66DF}"/>
              </a:ext>
            </a:extLst>
          </p:cNvPr>
          <p:cNvSpPr txBox="1"/>
          <p:nvPr/>
        </p:nvSpPr>
        <p:spPr>
          <a:xfrm>
            <a:off x="7183973" y="3696014"/>
            <a:ext cx="938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users</a:t>
            </a:r>
            <a:endParaRPr lang="en-IN" sz="1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68420F-D261-A37D-042A-A215B4AB8832}"/>
              </a:ext>
            </a:extLst>
          </p:cNvPr>
          <p:cNvCxnSpPr/>
          <p:nvPr/>
        </p:nvCxnSpPr>
        <p:spPr>
          <a:xfrm>
            <a:off x="5196792" y="1807753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19E37F-D9D0-72A5-8D9D-2DFE398CA9CA}"/>
              </a:ext>
            </a:extLst>
          </p:cNvPr>
          <p:cNvCxnSpPr/>
          <p:nvPr/>
        </p:nvCxnSpPr>
        <p:spPr>
          <a:xfrm>
            <a:off x="5343096" y="5904265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900F9CF-47D4-0683-D29A-DD656EDEFB47}"/>
              </a:ext>
            </a:extLst>
          </p:cNvPr>
          <p:cNvSpPr/>
          <p:nvPr/>
        </p:nvSpPr>
        <p:spPr>
          <a:xfrm>
            <a:off x="3589966" y="5236234"/>
            <a:ext cx="1697334" cy="12853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Submit out/in request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8EBF89-0BD2-CA63-B638-D240CCF198DB}"/>
              </a:ext>
            </a:extLst>
          </p:cNvPr>
          <p:cNvCxnSpPr/>
          <p:nvPr/>
        </p:nvCxnSpPr>
        <p:spPr>
          <a:xfrm>
            <a:off x="7019496" y="545620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BAEDC4-873A-02AF-F3BC-EBC0C6A3A7AB}"/>
              </a:ext>
            </a:extLst>
          </p:cNvPr>
          <p:cNvCxnSpPr>
            <a:cxnSpLocks/>
          </p:cNvCxnSpPr>
          <p:nvPr/>
        </p:nvCxnSpPr>
        <p:spPr>
          <a:xfrm>
            <a:off x="7019490" y="6333516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292219-F691-A59F-3A6A-3CBC0AEE16A8}"/>
              </a:ext>
            </a:extLst>
          </p:cNvPr>
          <p:cNvCxnSpPr>
            <a:cxnSpLocks/>
          </p:cNvCxnSpPr>
          <p:nvPr/>
        </p:nvCxnSpPr>
        <p:spPr>
          <a:xfrm>
            <a:off x="7202376" y="545925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72C6DC9-5D72-C9DF-433E-3559B79E8EEA}"/>
              </a:ext>
            </a:extLst>
          </p:cNvPr>
          <p:cNvSpPr txBox="1"/>
          <p:nvPr/>
        </p:nvSpPr>
        <p:spPr>
          <a:xfrm>
            <a:off x="7202260" y="5701598"/>
            <a:ext cx="1060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requests</a:t>
            </a:r>
            <a:endParaRPr lang="en-IN" sz="14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160413-16D2-1840-A875-B190DD6AF00F}"/>
              </a:ext>
            </a:extLst>
          </p:cNvPr>
          <p:cNvCxnSpPr/>
          <p:nvPr/>
        </p:nvCxnSpPr>
        <p:spPr>
          <a:xfrm>
            <a:off x="7019496" y="545925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EAE1E2-895D-5811-2AB6-4198FEB3B37A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4432776" y="4728540"/>
            <a:ext cx="0" cy="507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DD78E1C-AD61-FB93-CD9C-7EEFD39C70AE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1C511B-27A3-E328-7A6E-C8C3D8691BB3}"/>
              </a:ext>
            </a:extLst>
          </p:cNvPr>
          <p:cNvSpPr/>
          <p:nvPr/>
        </p:nvSpPr>
        <p:spPr>
          <a:xfrm>
            <a:off x="0" y="6570277"/>
            <a:ext cx="918713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953D58D0-D3E4-778F-B9F3-D54752880B5F}"/>
              </a:ext>
            </a:extLst>
          </p:cNvPr>
          <p:cNvSpPr/>
          <p:nvPr/>
        </p:nvSpPr>
        <p:spPr>
          <a:xfrm>
            <a:off x="342070" y="3515559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Parents</a:t>
            </a:r>
            <a:endParaRPr lang="en-IN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2E1A5C-AA16-B147-70EB-1880C8B02C85}"/>
              </a:ext>
            </a:extLst>
          </p:cNvPr>
          <p:cNvCxnSpPr>
            <a:cxnSpLocks/>
          </p:cNvCxnSpPr>
          <p:nvPr/>
        </p:nvCxnSpPr>
        <p:spPr>
          <a:xfrm flipV="1">
            <a:off x="2096909" y="2303253"/>
            <a:ext cx="1569317" cy="1202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446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E9A74-C038-1D57-A87F-F0526750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AA7D-DF34-59B0-F879-3D0AC4B48FE3}"/>
              </a:ext>
            </a:extLst>
          </p:cNvPr>
          <p:cNvSpPr txBox="1">
            <a:spLocks/>
          </p:cNvSpPr>
          <p:nvPr/>
        </p:nvSpPr>
        <p:spPr>
          <a:xfrm rot="10800000" flipV="1">
            <a:off x="658368" y="386007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2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2A488B-B93F-9F03-C639-3F257A101B14}"/>
              </a:ext>
            </a:extLst>
          </p:cNvPr>
          <p:cNvSpPr/>
          <p:nvPr/>
        </p:nvSpPr>
        <p:spPr>
          <a:xfrm>
            <a:off x="3535796" y="1255776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Approval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or 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rejection 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EBB995-9CD6-DD70-1916-27A28405F806}"/>
              </a:ext>
            </a:extLst>
          </p:cNvPr>
          <p:cNvCxnSpPr/>
          <p:nvPr/>
        </p:nvCxnSpPr>
        <p:spPr>
          <a:xfrm>
            <a:off x="6894010" y="1514973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3CA444-83FE-C786-C618-66FAB280EB58}"/>
              </a:ext>
            </a:extLst>
          </p:cNvPr>
          <p:cNvCxnSpPr/>
          <p:nvPr/>
        </p:nvCxnSpPr>
        <p:spPr>
          <a:xfrm>
            <a:off x="6894010" y="1518021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7805BC-74F7-0E89-3B65-42FBE35BE0CA}"/>
              </a:ext>
            </a:extLst>
          </p:cNvPr>
          <p:cNvCxnSpPr>
            <a:cxnSpLocks/>
          </p:cNvCxnSpPr>
          <p:nvPr/>
        </p:nvCxnSpPr>
        <p:spPr>
          <a:xfrm>
            <a:off x="6894010" y="2383653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45C9B0-C5BB-63A8-FCD7-0AD9EF2953A4}"/>
              </a:ext>
            </a:extLst>
          </p:cNvPr>
          <p:cNvCxnSpPr>
            <a:cxnSpLocks/>
          </p:cNvCxnSpPr>
          <p:nvPr/>
        </p:nvCxnSpPr>
        <p:spPr>
          <a:xfrm>
            <a:off x="7076890" y="1518021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D4F5A8BE-31B2-7E8A-B5BF-15E2A62A6C2C}"/>
              </a:ext>
            </a:extLst>
          </p:cNvPr>
          <p:cNvSpPr/>
          <p:nvPr/>
        </p:nvSpPr>
        <p:spPr>
          <a:xfrm>
            <a:off x="353568" y="1698255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Coordinator</a:t>
            </a:r>
            <a:endParaRPr lang="en-IN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D6494A-A91E-F2D0-11CE-E6835862C780}"/>
              </a:ext>
            </a:extLst>
          </p:cNvPr>
          <p:cNvCxnSpPr>
            <a:cxnSpLocks/>
          </p:cNvCxnSpPr>
          <p:nvPr/>
        </p:nvCxnSpPr>
        <p:spPr>
          <a:xfrm>
            <a:off x="2084832" y="2078736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1D94806-82FB-1196-4BB9-5A0C88D5A7EE}"/>
              </a:ext>
            </a:extLst>
          </p:cNvPr>
          <p:cNvSpPr txBox="1"/>
          <p:nvPr/>
        </p:nvSpPr>
        <p:spPr>
          <a:xfrm>
            <a:off x="7123590" y="1841338"/>
            <a:ext cx="1060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requests</a:t>
            </a:r>
            <a:endParaRPr lang="en-IN" sz="1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2051CB-C441-6D5C-1714-61DE854E0DA6}"/>
              </a:ext>
            </a:extLst>
          </p:cNvPr>
          <p:cNvCxnSpPr/>
          <p:nvPr/>
        </p:nvCxnSpPr>
        <p:spPr>
          <a:xfrm>
            <a:off x="5205418" y="1963029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EF176D2-9F46-BBF6-7802-4E8310FDE81F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DE80B9-756A-9886-5932-C5BD800D783B}"/>
              </a:ext>
            </a:extLst>
          </p:cNvPr>
          <p:cNvSpPr/>
          <p:nvPr/>
        </p:nvSpPr>
        <p:spPr>
          <a:xfrm>
            <a:off x="0" y="6570277"/>
            <a:ext cx="918713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4BD6F26-E737-645C-8271-1CB62CDF3F16}"/>
              </a:ext>
            </a:extLst>
          </p:cNvPr>
          <p:cNvSpPr/>
          <p:nvPr/>
        </p:nvSpPr>
        <p:spPr>
          <a:xfrm>
            <a:off x="342068" y="3550061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Head of the Department</a:t>
            </a:r>
            <a:endParaRPr lang="en-IN" sz="1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C715DC-A4CD-E859-359B-B18E2E0B7DCE}"/>
              </a:ext>
            </a:extLst>
          </p:cNvPr>
          <p:cNvCxnSpPr>
            <a:cxnSpLocks/>
          </p:cNvCxnSpPr>
          <p:nvPr/>
        </p:nvCxnSpPr>
        <p:spPr>
          <a:xfrm flipV="1">
            <a:off x="2085409" y="2320506"/>
            <a:ext cx="1572191" cy="1229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0E62E7AE-B5B1-EA98-4979-6FE2538936BE}"/>
              </a:ext>
            </a:extLst>
          </p:cNvPr>
          <p:cNvSpPr/>
          <p:nvPr/>
        </p:nvSpPr>
        <p:spPr>
          <a:xfrm>
            <a:off x="321947" y="4996419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Gate Admin</a:t>
            </a:r>
            <a:endParaRPr lang="en-IN" sz="14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D464E3-870D-B817-B4FB-FC05305981B7}"/>
              </a:ext>
            </a:extLst>
          </p:cNvPr>
          <p:cNvCxnSpPr>
            <a:cxnSpLocks/>
          </p:cNvCxnSpPr>
          <p:nvPr/>
        </p:nvCxnSpPr>
        <p:spPr>
          <a:xfrm flipV="1">
            <a:off x="2065288" y="2485965"/>
            <a:ext cx="1833852" cy="251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66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358</Words>
  <Application>Microsoft Office PowerPoint</Application>
  <PresentationFormat>On-screen Show (4:3)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 3</vt:lpstr>
      <vt:lpstr>Office Theme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Logeswaran K</dc:creator>
  <cp:keywords/>
  <dc:description>generated using python-pptx</dc:description>
  <cp:lastModifiedBy>Logeswaran K</cp:lastModifiedBy>
  <cp:revision>9</cp:revision>
  <dcterms:created xsi:type="dcterms:W3CDTF">2026-01-23T04:45:43Z</dcterms:created>
  <dcterms:modified xsi:type="dcterms:W3CDTF">2026-02-08T12:41:11Z</dcterms:modified>
  <cp:category/>
</cp:coreProperties>
</file>